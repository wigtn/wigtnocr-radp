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7607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20624" cy="420624"/>
          </a:xfrm>
          <a:prstGeom prst="rect">
            <a:avLst/>
          </a:prstGeom>
        </p:spPr>
      </p:pic>
      <p:pic>
        <p:nvPicPr>
          <p:cNvPr id="12" name="Picture 11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133856"/>
            <a:ext cx="420624" cy="420624"/>
          </a:xfrm>
          <a:prstGeom prst="rect">
            <a:avLst/>
          </a:prstGeom>
        </p:spPr>
      </p:pic>
      <p:pic>
        <p:nvPicPr>
          <p:cNvPr id="13" name="Picture 12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12" y="1133856"/>
            <a:ext cx="420624" cy="420624"/>
          </a:xfrm>
          <a:prstGeom prst="rect">
            <a:avLst/>
          </a:prstGeom>
        </p:spPr>
      </p:pic>
      <p:pic>
        <p:nvPicPr>
          <p:cNvPr id="14" name="Picture 13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7168" y="1133856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90088" y="1133856"/>
            <a:ext cx="88087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+ GOT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1764792"/>
            <a:ext cx="3761232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1168" y="17647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17647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Same page → two parses (appearance lies)</a:t>
            </a:r>
          </a:p>
        </p:txBody>
      </p:sp>
      <p:pic>
        <p:nvPicPr>
          <p:cNvPr id="19" name="Picture 18" descr="page_053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" y="2363489"/>
            <a:ext cx="1325879" cy="1874989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773936" y="2240280"/>
            <a:ext cx="2060448" cy="969264"/>
          </a:xfrm>
          <a:prstGeom prst="roundRect">
            <a:avLst>
              <a:gd name="adj" fmla="val 4000"/>
            </a:avLst>
          </a:prstGeom>
          <a:solidFill>
            <a:srgbClr val="F9ECEC"/>
          </a:solidFill>
          <a:ln w="13970">
            <a:solidFill>
              <a:srgbClr val="8F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56231" y="2240280"/>
            <a:ext cx="1895856" cy="9692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MinerU — BC 0.72 (cleanest)</a:t>
            </a:r>
          </a:p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202020"/>
                </a:solidFill>
                <a:latin typeface="Noto Sans CJK KR"/>
                <a:ea typeface="Noto Sans CJK KR"/>
                <a:cs typeface="Noto Sans CJK KR"/>
              </a:rPr>
              <a:t>(2) 即个张号 Sand Mat音斗个张叶</a:t>
            </a:r>
          </a:p>
          <a:p>
            <a:pPr algn="l">
              <a:lnSpc>
                <a:spcPct val="118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clean structure, garbled text</a:t>
            </a:r>
            <a:r>
              <a:rPr sz="95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   MISS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73936" y="3337560"/>
            <a:ext cx="2060448" cy="96926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397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56231" y="3337560"/>
            <a:ext cx="1895856" cy="9692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Prod (Qwen3-VL-2B) — lower BC</a:t>
            </a:r>
          </a:p>
          <a:p>
            <a:pPr algn="l">
              <a:lnSpc>
                <a:spcPct val="118000"/>
              </a:lnSpc>
            </a:pPr>
            <a:r>
              <a:rPr sz="900" b="0" i="0">
                <a:solidFill>
                  <a:srgbClr val="202020"/>
                </a:solidFill>
                <a:latin typeface="Noto Sans CJK KR"/>
                <a:ea typeface="Noto Sans CJK KR"/>
                <a:cs typeface="Noto Sans CJK KR"/>
              </a:rPr>
              <a:t>모래수량은 Sand Mat층을 제외한 수량</a:t>
            </a:r>
          </a:p>
          <a:p>
            <a:pPr algn="l">
              <a:lnSpc>
                <a:spcPct val="118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messier metric, answer kept</a:t>
            </a: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   HIT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" y="4553712"/>
            <a:ext cx="3541776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cleanest-looking parse retrieves worst — </a:t>
            </a:r>
            <a:r>
              <a:rPr sz="105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r = −0.81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pic>
        <p:nvPicPr>
          <p:cNvPr id="28" name="Picture 27" descr="fig_cover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833" y="1115568"/>
            <a:ext cx="2559852" cy="141731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309872" y="2532887"/>
            <a:ext cx="354177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20.2% of answers absent = parser fault</a:t>
            </a:r>
          </a:p>
          <a:p>
            <a:pPr algn="ctr">
              <a:lnSpc>
                <a:spcPct val="11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flat across 8 chunkers → fix the parser, not the chunker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0144" y="3227832"/>
            <a:ext cx="37612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34" name="Picture 33" descr="bge_baa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0224" y="3977639"/>
            <a:ext cx="457200" cy="457200"/>
          </a:xfrm>
          <a:prstGeom prst="rect">
            <a:avLst/>
          </a:prstGeom>
        </p:spPr>
      </p:pic>
      <p:pic>
        <p:nvPicPr>
          <p:cNvPr id="35" name="Picture 34" descr="me5_m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91784" y="3977639"/>
            <a:ext cx="457200" cy="457200"/>
          </a:xfrm>
          <a:prstGeom prst="rect">
            <a:avLst/>
          </a:prstGeom>
        </p:spPr>
      </p:pic>
      <p:pic>
        <p:nvPicPr>
          <p:cNvPr id="36" name="Picture 35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6184" y="3977639"/>
            <a:ext cx="457200" cy="4572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291584" y="4453128"/>
            <a:ext cx="3578352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 · mE5 · Qwen3-Emb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9872" y="4553712"/>
            <a:ext cx="3541776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GT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99120" y="2679192"/>
            <a:ext cx="3761232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pic>
        <p:nvPicPr>
          <p:cNvPr id="51" name="Picture 50" descr="fig_c4_train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9359" y="3044952"/>
            <a:ext cx="2700753" cy="13258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308848" y="4370832"/>
            <a:ext cx="354177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the two signals tie → retrieval reward unnecessary</a:t>
            </a:r>
          </a:p>
          <a:p>
            <a:pPr algn="ctr">
              <a:lnSpc>
                <a:spcPct val="11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the deployable lever is fidelity distillation</a:t>
            </a:r>
          </a:p>
        </p:txBody>
      </p:sp>
      <p:sp>
        <p:nvSpPr>
          <p:cNvPr id="53" name="Chevron 52"/>
          <p:cNvSpPr/>
          <p:nvPr/>
        </p:nvSpPr>
        <p:spPr>
          <a:xfrm>
            <a:off x="3971544" y="2743200"/>
            <a:ext cx="219456" cy="566928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hevron 53"/>
          <p:cNvSpPr/>
          <p:nvPr/>
        </p:nvSpPr>
        <p:spPr>
          <a:xfrm>
            <a:off x="7970520" y="2743200"/>
            <a:ext cx="219456" cy="566928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201168" y="5285232"/>
            <a:ext cx="11759184" cy="0"/>
          </a:xfrm>
          <a:prstGeom prst="line">
            <a:avLst/>
          </a:prstGeom>
          <a:ln w="1270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01168" y="5340096"/>
            <a:ext cx="11759184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The parser — not the chunker — is the under-examined lever:  choose it by retrieval, not by appearance   </a:t>
            </a:r>
            <a:r>
              <a:rPr sz="130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(Hit@1 0.20 → 0.55, 2.8×)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