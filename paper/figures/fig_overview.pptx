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61520" cy="52120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" y="182880"/>
            <a:ext cx="3573170" cy="420624"/>
          </a:xfrm>
          <a:prstGeom prst="roundRect">
            <a:avLst>
              <a:gd name="adj" fmla="val 12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82880"/>
            <a:ext cx="3573170" cy="420624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C1 · Parsing–Retrieval Disconnect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12082" y="182880"/>
            <a:ext cx="4513478" cy="420624"/>
          </a:xfrm>
          <a:prstGeom prst="roundRect">
            <a:avLst>
              <a:gd name="adj" fmla="val 12000"/>
            </a:avLst>
          </a:prstGeom>
          <a:solidFill>
            <a:srgbClr val="9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12082" y="182880"/>
            <a:ext cx="4513478" cy="420624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C3 · RCPS Selection  (+ C2 Diagnose)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304" y="182880"/>
            <a:ext cx="3197047" cy="420624"/>
          </a:xfrm>
          <a:prstGeom prst="roundRect">
            <a:avLst>
              <a:gd name="adj" fmla="val 12000"/>
            </a:avLst>
          </a:prstGeom>
          <a:solidFill>
            <a:srgbClr val="1A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63304" y="182880"/>
            <a:ext cx="3197047" cy="420624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C4 · Bounded Parser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" y="749808"/>
            <a:ext cx="357317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1168" y="749808"/>
            <a:ext cx="3573170" cy="310896"/>
          </a:xfrm>
          <a:prstGeom prst="roundRect">
            <a:avLst>
              <a:gd name="adj" fmla="val 10000"/>
            </a:avLst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" y="749808"/>
            <a:ext cx="3481730" cy="31089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F5FA8"/>
                </a:solidFill>
                <a:latin typeface="Calibri"/>
                <a:ea typeface="Calibri"/>
                <a:cs typeface="Calibri"/>
              </a:rPr>
              <a:t>Candidate parsers</a:t>
            </a:r>
          </a:p>
        </p:txBody>
      </p:sp>
      <p:pic>
        <p:nvPicPr>
          <p:cNvPr id="11" name="Picture 10" descr="qw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115568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1536192"/>
            <a:ext cx="877824" cy="21945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 i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Qwen3-VL</a:t>
            </a:r>
          </a:p>
        </p:txBody>
      </p:sp>
      <p:pic>
        <p:nvPicPr>
          <p:cNvPr id="13" name="Picture 12" descr="mine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1115568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88720" y="1536192"/>
            <a:ext cx="877824" cy="21945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 i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MinerU</a:t>
            </a:r>
          </a:p>
        </p:txBody>
      </p:sp>
      <p:pic>
        <p:nvPicPr>
          <p:cNvPr id="15" name="Picture 14" descr="marker_datal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1115568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11680" y="1536192"/>
            <a:ext cx="877824" cy="21945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 i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Marker</a:t>
            </a:r>
          </a:p>
        </p:txBody>
      </p:sp>
      <p:pic>
        <p:nvPicPr>
          <p:cNvPr id="17" name="Picture 16" descr="padd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1528" y="1115568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834640" y="1536192"/>
            <a:ext cx="877824" cy="21945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 i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PaddleOCR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" y="1975104"/>
            <a:ext cx="3573170" cy="31089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01168" y="1975104"/>
            <a:ext cx="3573170" cy="310896"/>
          </a:xfrm>
          <a:prstGeom prst="roundRect">
            <a:avLst>
              <a:gd name="adj" fmla="val 10000"/>
            </a:avLst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" y="1975104"/>
            <a:ext cx="3481730" cy="31089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F5FA8"/>
                </a:solidFill>
                <a:latin typeface="Calibri"/>
                <a:ea typeface="Calibri"/>
                <a:cs typeface="Calibri"/>
              </a:rPr>
              <a:t>Cleaner-looking ≠ better retrieval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84048" y="2505456"/>
          <a:ext cx="3207409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6168"/>
                <a:gridCol w="1348042"/>
                <a:gridCol w="883199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parser</a:t>
                      </a:r>
                    </a:p>
                  </a:txBody>
                  <a:tcPr anchor="ctr" marL="38100" marR="38100" marT="12700" marB="127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Boundary Clarity</a:t>
                      </a:r>
                    </a:p>
                  </a:txBody>
                  <a:tcPr anchor="ctr" marL="38100" marR="38100" marT="12700" marB="1270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Hit@1</a:t>
                      </a:r>
                    </a:p>
                  </a:txBody>
                  <a:tcPr anchor="ctr" marL="38100" marR="38100" marT="12700" marB="12700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MinerU</a:t>
                      </a:r>
                    </a:p>
                  </a:txBody>
                  <a:tcPr anchor="ctr" marL="38100" marR="38100" marT="12700" marB="12700">
                    <a:solidFill>
                      <a:srgbClr val="F9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0.72  (highest)</a:t>
                      </a:r>
                    </a:p>
                  </a:txBody>
                  <a:tcPr anchor="ctr" marL="38100" marR="38100" marT="12700" marB="12700">
                    <a:solidFill>
                      <a:srgbClr val="F9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8F1B1B"/>
                          </a:solidFill>
                          <a:latin typeface="Calibri"/>
                          <a:ea typeface="Calibri"/>
                          <a:cs typeface="Calibri"/>
                        </a:rPr>
                        <a:t>0.20</a:t>
                      </a:r>
                    </a:p>
                  </a:txBody>
                  <a:tcPr anchor="ctr" marL="38100" marR="38100" marT="12700" marB="12700">
                    <a:solidFill>
                      <a:srgbClr val="F9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Prod (ours)</a:t>
                      </a:r>
                    </a:p>
                  </a:txBody>
                  <a:tcPr anchor="ctr" marL="38100" marR="38100" marT="12700" marB="12700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0.61</a:t>
                      </a:r>
                    </a:p>
                  </a:txBody>
                  <a:tcPr anchor="ctr" marL="38100" marR="38100" marT="12700" marB="12700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6B1A"/>
                          </a:solidFill>
                          <a:latin typeface="Calibri"/>
                          <a:ea typeface="Calibri"/>
                          <a:cs typeface="Calibri"/>
                        </a:rPr>
                        <a:t>0.55</a:t>
                      </a:r>
                    </a:p>
                  </a:txBody>
                  <a:tcPr anchor="ctr" marL="38100" marR="38100" marT="12700" marB="12700">
                    <a:solidFill>
                      <a:srgbClr val="ECF6EC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29184" y="4123944"/>
            <a:ext cx="3317138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parser choice alone moves Hit@1 by </a:t>
            </a:r>
            <a:r>
              <a:rPr sz="1200" b="1" i="0">
                <a:solidFill>
                  <a:srgbClr val="1F5FA8"/>
                </a:solidFill>
                <a:latin typeface="Calibri"/>
                <a:ea typeface="Calibri"/>
                <a:cs typeface="Calibri"/>
              </a:rPr>
              <a:t>+35.1pp (0.20→0.55; 2.8×)</a:t>
            </a:r>
          </a:p>
          <a:p>
            <a:pPr algn="ctr">
              <a:lnSpc>
                <a:spcPct val="140000"/>
              </a:lnSpc>
            </a:pPr>
            <a:r>
              <a:rPr sz="900" b="0" i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appearance metrics measure formatting, not content</a:t>
            </a:r>
          </a:p>
          <a:p>
            <a:pPr algn="ctr">
              <a:lnSpc>
                <a:spcPct val="140000"/>
              </a:lnSpc>
            </a:pPr>
            <a:r>
              <a:rPr sz="850" b="0" i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(anti-correlation  r = −0.81,  n = 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12082" y="749808"/>
            <a:ext cx="4513478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9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12082" y="749808"/>
            <a:ext cx="4513478" cy="310896"/>
          </a:xfrm>
          <a:prstGeom prst="roundRect">
            <a:avLst>
              <a:gd name="adj" fmla="val 10000"/>
            </a:avLst>
          </a:prstGeom>
          <a:solidFill>
            <a:srgbClr val="FC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57802" y="749808"/>
            <a:ext cx="4422038" cy="31089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9A5A00"/>
                </a:solidFill>
                <a:latin typeface="Calibri"/>
                <a:ea typeface="Calibri"/>
                <a:cs typeface="Calibri"/>
              </a:rPr>
              <a:t>C3 · RCPS selection protocol (no training)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1810" y="1133856"/>
            <a:ext cx="4294022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held-out Q–A probe, scored over 3 retrievers:</a:t>
            </a:r>
          </a:p>
        </p:txBody>
      </p:sp>
      <p:pic>
        <p:nvPicPr>
          <p:cNvPr id="28" name="Picture 27" descr="bge_ba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6482" y="1499616"/>
            <a:ext cx="438912" cy="4389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734458" y="1956816"/>
            <a:ext cx="822960" cy="20116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BGE-M3</a:t>
            </a:r>
          </a:p>
        </p:txBody>
      </p:sp>
      <p:pic>
        <p:nvPicPr>
          <p:cNvPr id="30" name="Picture 29" descr="me5_m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2322" y="1499616"/>
            <a:ext cx="438912" cy="43891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740298" y="1956816"/>
            <a:ext cx="822960" cy="20116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mE5</a:t>
            </a:r>
          </a:p>
        </p:txBody>
      </p:sp>
      <p:pic>
        <p:nvPicPr>
          <p:cNvPr id="32" name="Picture 31" descr="qw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162" y="1499616"/>
            <a:ext cx="438912" cy="4389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46138" y="1956816"/>
            <a:ext cx="822960" cy="20116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Qwen3-Emb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21810" y="2249424"/>
            <a:ext cx="4294022" cy="23774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919" b="1" i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extrinsic · retriever-averaged · format-normalised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21810" y="2505456"/>
            <a:ext cx="4294022" cy="21945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880" b="0" i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no training · no manual relevance labels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21810" y="2743200"/>
            <a:ext cx="4294022" cy="42062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9A5A00"/>
                </a:solidFill>
                <a:latin typeface="Calibri"/>
                <a:ea typeface="Calibri"/>
                <a:cs typeface="Calibri"/>
              </a:rPr>
              <a:t>→ rank parsers &amp; chunkers by retrieval</a:t>
            </a:r>
          </a:p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picks Prod (RCPS 0.583) over MinerU (0.212)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12082" y="3364992"/>
            <a:ext cx="4513478" cy="171907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9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012082" y="3364992"/>
            <a:ext cx="4513478" cy="310896"/>
          </a:xfrm>
          <a:prstGeom prst="roundRect">
            <a:avLst>
              <a:gd name="adj" fmla="val 10000"/>
            </a:avLst>
          </a:prstGeom>
          <a:solidFill>
            <a:srgbClr val="FC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57802" y="3364992"/>
            <a:ext cx="4422038" cy="31089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9A5A00"/>
                </a:solidFill>
                <a:latin typeface="Calibri"/>
                <a:ea typeface="Calibri"/>
                <a:cs typeface="Calibri"/>
              </a:rPr>
              <a:t>C2 · Coverage diagnostic (no retriever)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40682" y="3785616"/>
            <a:ext cx="3143615" cy="457200"/>
          </a:xfrm>
          <a:prstGeom prst="rect">
            <a:avLst/>
          </a:prstGeom>
          <a:solidFill>
            <a:srgbClr val="4A9A4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84298" y="3785616"/>
            <a:ext cx="93294" cy="457200"/>
          </a:xfrm>
          <a:prstGeom prst="rect">
            <a:avLst/>
          </a:prstGeom>
          <a:solidFill>
            <a:srgbClr val="D98A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77592" y="3785616"/>
            <a:ext cx="819368" cy="457200"/>
          </a:xfrm>
          <a:prstGeom prst="rect">
            <a:avLst/>
          </a:prstGeom>
          <a:solidFill>
            <a:srgbClr val="BE3A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40682" y="3785616"/>
            <a:ext cx="3143615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77.5%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77592" y="3785616"/>
            <a:ext cx="819368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20.2%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40682" y="4270248"/>
            <a:ext cx="3143615" cy="20116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i="0">
                <a:solidFill>
                  <a:srgbClr val="4A9A4A"/>
                </a:solidFill>
                <a:latin typeface="Calibri"/>
                <a:ea typeface="Calibri"/>
                <a:cs typeface="Calibri"/>
              </a:rPr>
              <a:t>covered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0077" y="4270248"/>
            <a:ext cx="1216883" cy="20116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i="0">
                <a:solidFill>
                  <a:srgbClr val="BE3A3A"/>
                </a:solidFill>
                <a:latin typeface="Calibri"/>
                <a:ea typeface="Calibri"/>
                <a:cs typeface="Calibri"/>
              </a:rPr>
              <a:t>absent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40098" y="4498848"/>
            <a:ext cx="4257446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absent = </a:t>
            </a:r>
            <a:r>
              <a:rPr sz="900" b="1" i="0">
                <a:solidFill>
                  <a:srgbClr val="8F1B1B"/>
                </a:solidFill>
                <a:latin typeface="Calibri"/>
                <a:ea typeface="Calibri"/>
                <a:cs typeface="Calibri"/>
              </a:rPr>
              <a:t>parser-side failure</a:t>
            </a:r>
            <a:r>
              <a:rPr sz="900" b="0" i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, set before chunking</a:t>
            </a:r>
          </a:p>
          <a:p>
            <a:pPr algn="ctr">
              <a:lnSpc>
                <a:spcPct val="125000"/>
              </a:lnSpc>
            </a:pPr>
            <a:r>
              <a:rPr sz="880" b="0" i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no chunker can recover it → fix the parser (C4)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63304" y="749808"/>
            <a:ext cx="3197047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A6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763304" y="749808"/>
            <a:ext cx="3197047" cy="310896"/>
          </a:xfrm>
          <a:prstGeom prst="roundRect">
            <a:avLst>
              <a:gd name="adj" fmla="val 10000"/>
            </a:avLst>
          </a:prstGeom>
          <a:solidFill>
            <a:srgbClr val="EC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09024" y="749808"/>
            <a:ext cx="3105607" cy="31089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A6B1A"/>
                </a:solidFill>
                <a:latin typeface="Calibri"/>
                <a:ea typeface="Calibri"/>
                <a:cs typeface="Calibri"/>
              </a:rPr>
              <a:t>C4 · Parser-side training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1320" y="1152144"/>
            <a:ext cx="2941015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best-of-K parses from Prod, ranked two ways: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46184" y="1536192"/>
            <a:ext cx="2831287" cy="420624"/>
          </a:xfrm>
          <a:prstGeom prst="roundRect">
            <a:avLst>
              <a:gd name="adj" fmla="val 4000"/>
            </a:avLst>
          </a:prstGeom>
          <a:solidFill>
            <a:srgbClr val="ECF6EC"/>
          </a:solidFill>
          <a:ln w="12700">
            <a:solidFill>
              <a:srgbClr val="1A6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4472" y="1536192"/>
            <a:ext cx="2794711" cy="420624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1A6B1A"/>
                </a:solidFill>
                <a:latin typeface="Calibri"/>
                <a:ea typeface="Calibri"/>
                <a:cs typeface="Calibri"/>
              </a:rPr>
              <a:t>RADP-Distill — edit-distance → ref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63304" y="1975104"/>
            <a:ext cx="3197047" cy="20116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≈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46184" y="2048255"/>
            <a:ext cx="2831287" cy="384048"/>
          </a:xfrm>
          <a:prstGeom prst="roundRect">
            <a:avLst>
              <a:gd name="adj" fmla="val 4000"/>
            </a:avLst>
          </a:prstGeom>
          <a:solidFill>
            <a:srgbClr val="FCF3E6"/>
          </a:solidFill>
          <a:ln w="12700">
            <a:solidFill>
              <a:srgbClr val="9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4472" y="2048255"/>
            <a:ext cx="2794711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9A5A00"/>
                </a:solidFill>
                <a:latin typeface="Calibri"/>
                <a:ea typeface="Calibri"/>
                <a:cs typeface="Calibri"/>
              </a:rPr>
              <a:t>RADP-DPO — page-local RCPS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763304" y="2679192"/>
            <a:ext cx="3197047" cy="240487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A6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763304" y="2679192"/>
            <a:ext cx="3197047" cy="310896"/>
          </a:xfrm>
          <a:prstGeom prst="roundRect">
            <a:avLst>
              <a:gd name="adj" fmla="val 10000"/>
            </a:avLst>
          </a:prstGeom>
          <a:solidFill>
            <a:srgbClr val="EC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09024" y="2679192"/>
            <a:ext cx="3105607" cy="31089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A6B1A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91320" y="3063240"/>
            <a:ext cx="2941015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Hit@5 gain over the untuned parser: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91320" y="3520440"/>
            <a:ext cx="96012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4A9A4A"/>
                </a:solidFill>
                <a:latin typeface="Calibri"/>
                <a:ea typeface="Calibri"/>
                <a:cs typeface="Calibri"/>
              </a:rPr>
              <a:t>RADP-Distill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06304" y="3547872"/>
            <a:ext cx="1188720" cy="274320"/>
          </a:xfrm>
          <a:prstGeom prst="rect">
            <a:avLst/>
          </a:prstGeom>
          <a:solidFill>
            <a:srgbClr val="4A9A4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140744" y="3520440"/>
            <a:ext cx="77724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+1.22 pp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91320" y="3950207"/>
            <a:ext cx="96012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D98A2B"/>
                </a:solidFill>
                <a:latin typeface="Calibri"/>
                <a:ea typeface="Calibri"/>
                <a:cs typeface="Calibri"/>
              </a:rPr>
              <a:t>RADP-DPO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906304" y="3977639"/>
            <a:ext cx="828206" cy="274320"/>
          </a:xfrm>
          <a:prstGeom prst="rect">
            <a:avLst/>
          </a:prstGeom>
          <a:solidFill>
            <a:srgbClr val="D98A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780231" y="3950207"/>
            <a:ext cx="77724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+0.85 pp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91320" y="4480559"/>
            <a:ext cx="2941015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28000"/>
              </a:lnSpc>
            </a:pPr>
            <a:r>
              <a:rPr sz="950" b="1" i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substantially overlapping CIs</a:t>
            </a:r>
          </a:p>
          <a:p>
            <a:pPr algn="ctr">
              <a:lnSpc>
                <a:spcPct val="128000"/>
              </a:lnSpc>
            </a:pPr>
            <a:r>
              <a:rPr sz="900" b="1" i="0">
                <a:solidFill>
                  <a:srgbClr val="1A6B1A"/>
                </a:solidFill>
                <a:latin typeface="Calibri"/>
                <a:ea typeface="Calibri"/>
                <a:cs typeface="Calibri"/>
              </a:rPr>
              <a:t>no evidence reward helps; lever = fidelity distillation</a:t>
            </a:r>
          </a:p>
        </p:txBody>
      </p:sp>
      <p:sp>
        <p:nvSpPr>
          <p:cNvPr id="68" name="Chevron 67"/>
          <p:cNvSpPr/>
          <p:nvPr/>
        </p:nvSpPr>
        <p:spPr>
          <a:xfrm>
            <a:off x="3783482" y="2514600"/>
            <a:ext cx="219456" cy="548640"/>
          </a:xfrm>
          <a:prstGeom prst="chevron">
            <a:avLst/>
          </a:prstGeom>
          <a:solidFill>
            <a:srgbClr val="9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hevron 68"/>
          <p:cNvSpPr/>
          <p:nvPr/>
        </p:nvSpPr>
        <p:spPr>
          <a:xfrm>
            <a:off x="8534704" y="2514600"/>
            <a:ext cx="219456" cy="548640"/>
          </a:xfrm>
          <a:prstGeom prst="chevron">
            <a:avLst/>
          </a:prstGeom>
          <a:solidFill>
            <a:srgbClr val="1A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