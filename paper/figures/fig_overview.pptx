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61520" cy="52120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C1 · Parsing–Retrieval Disconnect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00144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0144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C2 / C3 · Diagnose + Select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99120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99120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C4 · Bounded Parser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" y="749808"/>
            <a:ext cx="3761232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1168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Candidate parsers</a:t>
            </a:r>
          </a:p>
        </p:txBody>
      </p:sp>
      <p:pic>
        <p:nvPicPr>
          <p:cNvPr id="11" name="Picture 10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115568"/>
            <a:ext cx="384048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Qwen3-VL</a:t>
            </a:r>
          </a:p>
        </p:txBody>
      </p:sp>
      <p:pic>
        <p:nvPicPr>
          <p:cNvPr id="13" name="Picture 12" descr="mine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608" y="1115568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872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MinerU</a:t>
            </a:r>
          </a:p>
        </p:txBody>
      </p:sp>
      <p:pic>
        <p:nvPicPr>
          <p:cNvPr id="15" name="Picture 14" descr="marker_data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1115568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1168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Marker</a:t>
            </a:r>
          </a:p>
        </p:txBody>
      </p:sp>
      <p:pic>
        <p:nvPicPr>
          <p:cNvPr id="17" name="Picture 16" descr="padd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1528" y="1115568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3464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PaddleOCR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1168" y="1975104"/>
            <a:ext cx="3761232" cy="31089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01168" y="1975104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1975104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Cleaner-looking ≠ better retrieval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384048" y="2478024"/>
          <a:ext cx="3395469" cy="1554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68816"/>
                <a:gridCol w="1245621"/>
                <a:gridCol w="535155"/>
                <a:gridCol w="645877"/>
              </a:tblGrid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parser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Boundary Clarity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answer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Hit@1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MinerU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0.72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8F1B1B"/>
                          </a:solidFill>
                          <a:latin typeface="Calibri"/>
                          <a:ea typeface="Calibri"/>
                          <a:cs typeface="Calibri"/>
                        </a:rPr>
                        <a:t>no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8F1B1B"/>
                          </a:solidFill>
                          <a:latin typeface="Calibri"/>
                          <a:ea typeface="Calibri"/>
                          <a:cs typeface="Calibri"/>
                        </a:rPr>
                        <a:t>0.20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Prod (ours)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0.61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A6B1A"/>
                          </a:solidFill>
                          <a:latin typeface="Calibri"/>
                          <a:ea typeface="Calibri"/>
                          <a:cs typeface="Calibri"/>
                        </a:rPr>
                        <a:t>yes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A6B1A"/>
                          </a:solidFill>
                          <a:latin typeface="Calibri"/>
                          <a:ea typeface="Calibri"/>
                          <a:cs typeface="Calibri"/>
                        </a:rPr>
                        <a:t>0.55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329184" y="4123944"/>
            <a:ext cx="350520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parser choice alone swings Hit@1 by </a:t>
            </a:r>
            <a:r>
              <a:rPr sz="12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2.8×</a:t>
            </a:r>
          </a:p>
          <a:p>
            <a:pPr algn="ctr">
              <a:lnSpc>
                <a:spcPct val="140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appearance metrics measure formatting, not content</a:t>
            </a:r>
          </a:p>
          <a:p>
            <a:pPr algn="ctr">
              <a:lnSpc>
                <a:spcPct val="140000"/>
              </a:lnSpc>
            </a:pPr>
            <a:r>
              <a:rPr sz="85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(anti-correlation  r = −0.81,  n = 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0144" y="749808"/>
            <a:ext cx="3761232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200144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45864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C2 · Coverage diagnostic (no retriever)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8160" y="1115568"/>
            <a:ext cx="3505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where does each gold answer land?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28744" y="1517904"/>
            <a:ext cx="2560624" cy="548640"/>
          </a:xfrm>
          <a:prstGeom prst="rect">
            <a:avLst/>
          </a:prstGeom>
          <a:solidFill>
            <a:srgbClr val="4A9A4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89368" y="1517904"/>
            <a:ext cx="75992" cy="548640"/>
          </a:xfrm>
          <a:prstGeom prst="rect">
            <a:avLst/>
          </a:prstGeom>
          <a:solidFill>
            <a:srgbClr val="D98A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65361" y="1517904"/>
            <a:ext cx="667414" cy="548640"/>
          </a:xfrm>
          <a:prstGeom prst="rect">
            <a:avLst/>
          </a:prstGeom>
          <a:solidFill>
            <a:srgbClr val="BE3A3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28744" y="1517904"/>
            <a:ext cx="2560624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77.5%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5361" y="1517904"/>
            <a:ext cx="667414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8744" y="2103120"/>
            <a:ext cx="25606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4A9A4A"/>
                </a:solidFill>
                <a:latin typeface="Calibri"/>
                <a:ea typeface="Calibri"/>
                <a:cs typeface="Calibri"/>
              </a:rPr>
              <a:t>covered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1566" y="2103120"/>
            <a:ext cx="991209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BE3A3A"/>
                </a:solidFill>
                <a:latin typeface="Calibri"/>
                <a:ea typeface="Calibri"/>
                <a:cs typeface="Calibri"/>
              </a:rPr>
              <a:t>absent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8160" y="2377439"/>
            <a:ext cx="3505200" cy="60350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absent = answer never made it into the parser output </a:t>
            </a:r>
            <a:r>
              <a:rPr sz="900" b="1" i="0">
                <a:solidFill>
                  <a:srgbClr val="8F1B1B"/>
                </a:solidFill>
                <a:latin typeface="Calibri"/>
                <a:ea typeface="Calibri"/>
                <a:cs typeface="Calibri"/>
              </a:rPr>
              <a:t>(parser fault)</a:t>
            </a:r>
          </a:p>
          <a:p>
            <a:pPr algn="ctr">
              <a:lnSpc>
                <a:spcPct val="130000"/>
              </a:lnSpc>
            </a:pPr>
            <a:r>
              <a:rPr sz="88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constant across all 8 chunkers → chunking can't recover it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00144" y="3227832"/>
            <a:ext cx="3761232" cy="18562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200144" y="322783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45864" y="322783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C3 · RCPS selection protocol (no training)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09872" y="3611879"/>
            <a:ext cx="3541776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held-out Q–A probe, scored over 3 retrievers:</a:t>
            </a:r>
          </a:p>
        </p:txBody>
      </p:sp>
      <p:pic>
        <p:nvPicPr>
          <p:cNvPr id="40" name="Picture 39" descr="bge_ba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8784" y="3959352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556760" y="4416552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BGE-M3</a:t>
            </a:r>
          </a:p>
        </p:txBody>
      </p:sp>
      <p:pic>
        <p:nvPicPr>
          <p:cNvPr id="42" name="Picture 41" descr="me5_m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4624" y="3959352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5562600" y="4416552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mE5</a:t>
            </a:r>
          </a:p>
        </p:txBody>
      </p:sp>
      <p:pic>
        <p:nvPicPr>
          <p:cNvPr id="44" name="Picture 43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0464" y="3959352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568440" y="4416552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Qwen3-Emb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09872" y="4754879"/>
            <a:ext cx="3541776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→ rank parsers &amp; chunkers by retrieval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99120" y="749808"/>
            <a:ext cx="3761232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199120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44840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C4 · Parser-side training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7136" y="1152144"/>
            <a:ext cx="350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best-of-K parses from Prod, ranked two ways: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382000" y="1536192"/>
            <a:ext cx="3395472" cy="420624"/>
          </a:xfrm>
          <a:prstGeom prst="roundRect">
            <a:avLst>
              <a:gd name="adj" fmla="val 4000"/>
            </a:avLst>
          </a:prstGeom>
          <a:solidFill>
            <a:srgbClr val="ECF6EC"/>
          </a:solidFill>
          <a:ln w="12700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00288" y="1536192"/>
            <a:ext cx="3358896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RADP-Distill — edit-distance → GT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9120" y="1975104"/>
            <a:ext cx="3761232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≈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82000" y="2048255"/>
            <a:ext cx="3395472" cy="384048"/>
          </a:xfrm>
          <a:prstGeom prst="roundRect">
            <a:avLst>
              <a:gd name="adj" fmla="val 4000"/>
            </a:avLst>
          </a:prstGeom>
          <a:solidFill>
            <a:srgbClr val="FCF3E6"/>
          </a:solidFill>
          <a:ln w="12700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00288" y="2048255"/>
            <a:ext cx="3358896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RADP-DPO — page-local RCPS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199120" y="2679192"/>
            <a:ext cx="3761232" cy="240487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199120" y="267919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44840" y="267919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Result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7136" y="3063240"/>
            <a:ext cx="3505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Hit@5 gain over the untuned parser: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45424" y="3520440"/>
            <a:ext cx="1115568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4A9A4A"/>
                </a:solidFill>
                <a:latin typeface="Calibri"/>
                <a:ea typeface="Calibri"/>
                <a:cs typeface="Calibri"/>
              </a:rPr>
              <a:t>RADP-Distill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497568" y="3547872"/>
            <a:ext cx="1325880" cy="274320"/>
          </a:xfrm>
          <a:prstGeom prst="rect">
            <a:avLst/>
          </a:prstGeom>
          <a:solidFill>
            <a:srgbClr val="4A9A4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69168" y="3520440"/>
            <a:ext cx="77724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+1.22 pp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5424" y="3950207"/>
            <a:ext cx="1115568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D98A2B"/>
                </a:solidFill>
                <a:latin typeface="Calibri"/>
                <a:ea typeface="Calibri"/>
                <a:cs typeface="Calibri"/>
              </a:rPr>
              <a:t>RADP-DPO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497568" y="3977639"/>
            <a:ext cx="923768" cy="274320"/>
          </a:xfrm>
          <a:prstGeom prst="rect">
            <a:avLst/>
          </a:prstGeom>
          <a:solidFill>
            <a:srgbClr val="D98A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467056" y="3950207"/>
            <a:ext cx="77724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+0.85 pp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7136" y="4480559"/>
            <a:ext cx="35052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8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≈  overlapping CIs → equal gain</a:t>
            </a:r>
          </a:p>
          <a:p>
            <a:pPr algn="ctr">
              <a:lnSpc>
                <a:spcPct val="128000"/>
              </a:lnSpc>
            </a:pPr>
            <a:r>
              <a:rPr sz="90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retrieval reward unnecessary; lever = fidelity distillation</a:t>
            </a:r>
          </a:p>
        </p:txBody>
      </p:sp>
      <p:sp>
        <p:nvSpPr>
          <p:cNvPr id="67" name="Chevron 66"/>
          <p:cNvSpPr/>
          <p:nvPr/>
        </p:nvSpPr>
        <p:spPr>
          <a:xfrm>
            <a:off x="3971544" y="2514600"/>
            <a:ext cx="219456" cy="548640"/>
          </a:xfrm>
          <a:prstGeom prst="chevron">
            <a:avLst/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hevron 67"/>
          <p:cNvSpPr/>
          <p:nvPr/>
        </p:nvSpPr>
        <p:spPr>
          <a:xfrm>
            <a:off x="7970520" y="2514600"/>
            <a:ext cx="219456" cy="548640"/>
          </a:xfrm>
          <a:prstGeom prst="chevron">
            <a:avLst/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