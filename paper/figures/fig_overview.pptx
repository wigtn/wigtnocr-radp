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5212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C1 · Parsing–Retrieval Disconnect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0144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0144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C2 / C3 · Diagnose + Select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9120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9120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C4 · Bounded Parser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749808"/>
            <a:ext cx="3761232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Candidate parsers</a:t>
            </a:r>
          </a:p>
        </p:txBody>
      </p:sp>
      <p:pic>
        <p:nvPicPr>
          <p:cNvPr id="11" name="Picture 10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20624" cy="420624"/>
          </a:xfrm>
          <a:prstGeom prst="rect">
            <a:avLst/>
          </a:prstGeom>
        </p:spPr>
      </p:pic>
      <p:pic>
        <p:nvPicPr>
          <p:cNvPr id="12" name="Picture 11" descr="mine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" y="1133856"/>
            <a:ext cx="420624" cy="420624"/>
          </a:xfrm>
          <a:prstGeom prst="rect">
            <a:avLst/>
          </a:prstGeom>
        </p:spPr>
      </p:pic>
      <p:pic>
        <p:nvPicPr>
          <p:cNvPr id="13" name="Picture 12" descr="marker_data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0512" y="1133856"/>
            <a:ext cx="420624" cy="420624"/>
          </a:xfrm>
          <a:prstGeom prst="rect">
            <a:avLst/>
          </a:prstGeom>
        </p:spPr>
      </p:pic>
      <p:pic>
        <p:nvPicPr>
          <p:cNvPr id="14" name="Picture 13" descr="padd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7168" y="1133856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90088" y="1133856"/>
            <a:ext cx="88087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+ GOT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1764792"/>
            <a:ext cx="3761232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1168" y="176479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8" y="176479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Cleaner-looking ≠ better retrieval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84048" y="2267712"/>
          <a:ext cx="3395470" cy="1554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50732"/>
                <a:gridCol w="1177096"/>
                <a:gridCol w="561384"/>
                <a:gridCol w="706258"/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parser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Boundary Clarity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answer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retrieval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MinerU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0.72  (highest)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no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MISS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Prod (ours)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lower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HIT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29184" y="3959352"/>
            <a:ext cx="3505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32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highest Boundary Clarity, yet worst retrieval:</a:t>
            </a:r>
          </a:p>
          <a:p>
            <a:pPr algn="ctr">
              <a:lnSpc>
                <a:spcPct val="132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appearance metrics measure formatting, not content</a:t>
            </a:r>
          </a:p>
          <a:p>
            <a:pPr algn="ctr">
              <a:lnSpc>
                <a:spcPct val="132000"/>
              </a:lnSpc>
            </a:pPr>
            <a:r>
              <a:rPr sz="105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anti-correlation   r = −0.81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0144" y="749808"/>
            <a:ext cx="3761232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00144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45864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C2 · Coverage diagnostic (no retriever)</a:t>
            </a:r>
          </a:p>
        </p:txBody>
      </p:sp>
      <p:pic>
        <p:nvPicPr>
          <p:cNvPr id="24" name="Picture 23" descr="fig_cover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833" y="1115568"/>
            <a:ext cx="2559852" cy="141731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09872" y="2532887"/>
            <a:ext cx="354177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20.2% of answers absent = parser fault</a:t>
            </a:r>
          </a:p>
          <a:p>
            <a:pPr algn="ctr">
              <a:lnSpc>
                <a:spcPct val="11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flat across 8 chunkers → fix the parser, not the chunker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0144" y="3227832"/>
            <a:ext cx="37612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00144" y="322783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45864" y="322783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C3 · RCPS selection protocol (no training)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9872" y="3611879"/>
            <a:ext cx="3541776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held-out Q–A probe, scored over 3 retrievers:</a:t>
            </a:r>
          </a:p>
        </p:txBody>
      </p:sp>
      <p:pic>
        <p:nvPicPr>
          <p:cNvPr id="30" name="Picture 29" descr="bge_ba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0224" y="3977639"/>
            <a:ext cx="457200" cy="457200"/>
          </a:xfrm>
          <a:prstGeom prst="rect">
            <a:avLst/>
          </a:prstGeom>
        </p:spPr>
      </p:pic>
      <p:pic>
        <p:nvPicPr>
          <p:cNvPr id="31" name="Picture 30" descr="me5_m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1784" y="3977639"/>
            <a:ext cx="457200" cy="457200"/>
          </a:xfrm>
          <a:prstGeom prst="rect">
            <a:avLst/>
          </a:prstGeom>
        </p:spPr>
      </p:pic>
      <p:pic>
        <p:nvPicPr>
          <p:cNvPr id="32" name="Picture 31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6184" y="3977639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291584" y="4453128"/>
            <a:ext cx="3578352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BGE-M3 · mE5 · Qwen3-Emb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9872" y="4553712"/>
            <a:ext cx="3541776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→ rank parsers &amp; chunkers by retrieval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99120" y="749808"/>
            <a:ext cx="3761232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199120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44840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C4 · Parser-side training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7136" y="1152144"/>
            <a:ext cx="350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best-of-K parses from Prod, ranked two ways: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82000" y="1536192"/>
            <a:ext cx="3395472" cy="420624"/>
          </a:xfrm>
          <a:prstGeom prst="roundRect">
            <a:avLst>
              <a:gd name="adj" fmla="val 4000"/>
            </a:avLst>
          </a:prstGeom>
          <a:solidFill>
            <a:srgbClr val="ECF6EC"/>
          </a:solidFill>
          <a:ln w="12700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00288" y="1536192"/>
            <a:ext cx="3358896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RADP-Distill — edit-distance → GT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99120" y="1975104"/>
            <a:ext cx="3761232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82000" y="2048255"/>
            <a:ext cx="3395472" cy="384048"/>
          </a:xfrm>
          <a:prstGeom prst="roundRect">
            <a:avLst>
              <a:gd name="adj" fmla="val 4000"/>
            </a:avLst>
          </a:prstGeom>
          <a:solidFill>
            <a:srgbClr val="FCF3E6"/>
          </a:solidFill>
          <a:ln w="127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00288" y="2048255"/>
            <a:ext cx="3358896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RADP-DPO — page-local RCPS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99120" y="2679192"/>
            <a:ext cx="3761232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199120" y="267919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44840" y="267919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Result</a:t>
            </a:r>
          </a:p>
        </p:txBody>
      </p:sp>
      <p:pic>
        <p:nvPicPr>
          <p:cNvPr id="47" name="Picture 46" descr="fig_c4_train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29359" y="3044952"/>
            <a:ext cx="2700753" cy="13258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308848" y="4370832"/>
            <a:ext cx="354177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the two signals tie → retrieval reward unnecessary</a:t>
            </a:r>
          </a:p>
          <a:p>
            <a:pPr algn="ctr">
              <a:lnSpc>
                <a:spcPct val="11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the deployable lever is fidelity distillation</a:t>
            </a:r>
          </a:p>
        </p:txBody>
      </p:sp>
      <p:sp>
        <p:nvSpPr>
          <p:cNvPr id="49" name="Chevron 48"/>
          <p:cNvSpPr/>
          <p:nvPr/>
        </p:nvSpPr>
        <p:spPr>
          <a:xfrm>
            <a:off x="3971544" y="2514600"/>
            <a:ext cx="219456" cy="548640"/>
          </a:xfrm>
          <a:prstGeom prst="chevron">
            <a:avLst/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hevron 49"/>
          <p:cNvSpPr/>
          <p:nvPr/>
        </p:nvSpPr>
        <p:spPr>
          <a:xfrm>
            <a:off x="7970520" y="2514600"/>
            <a:ext cx="219456" cy="548640"/>
          </a:xfrm>
          <a:prstGeom prst="chevron">
            <a:avLst/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