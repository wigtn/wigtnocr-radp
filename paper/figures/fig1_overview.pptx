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332720" cy="33101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28016"/>
            <a:ext cx="1773936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 w="11430">
            <a:solidFill>
              <a:srgbClr val="CF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164592"/>
            <a:ext cx="1773936" cy="1645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546E7A"/>
                </a:solidFill>
                <a:latin typeface="Calibri"/>
              </a:rPr>
              <a:t>Document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31136" y="128016"/>
            <a:ext cx="1773936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 w="11430">
            <a:solidFill>
              <a:srgbClr val="CF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31136" y="164592"/>
            <a:ext cx="1773936" cy="1645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546E7A"/>
                </a:solidFill>
                <a:latin typeface="Calibri"/>
              </a:rPr>
              <a:t>Parse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9392" y="128016"/>
            <a:ext cx="1773936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 w="11430">
            <a:solidFill>
              <a:srgbClr val="CF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79392" y="164592"/>
            <a:ext cx="1773936" cy="1645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546E7A"/>
                </a:solidFill>
                <a:latin typeface="Calibri"/>
              </a:rPr>
              <a:t>Chunk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28016"/>
            <a:ext cx="1773936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 w="11430">
            <a:solidFill>
              <a:srgbClr val="CF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7648" y="164592"/>
            <a:ext cx="1773936" cy="1645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546E7A"/>
                </a:solidFill>
                <a:latin typeface="Calibri"/>
              </a:rPr>
              <a:t>Retrieve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75904" y="128016"/>
            <a:ext cx="1773936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 w="11430">
            <a:solidFill>
              <a:srgbClr val="CF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75904" y="164592"/>
            <a:ext cx="1773936" cy="1645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546E7A"/>
                </a:solidFill>
                <a:latin typeface="Calibri"/>
              </a:rPr>
              <a:t>Generate</a:t>
            </a:r>
          </a:p>
        </p:txBody>
      </p:sp>
      <p:pic>
        <p:nvPicPr>
          <p:cNvPr id="12" name="Picture 11" descr="docu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365760"/>
            <a:ext cx="292608" cy="292608"/>
          </a:xfrm>
          <a:prstGeom prst="rect">
            <a:avLst/>
          </a:prstGeom>
        </p:spPr>
      </p:pic>
      <p:pic>
        <p:nvPicPr>
          <p:cNvPr id="13" name="Picture 12" descr="qw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452" y="420623"/>
            <a:ext cx="274320" cy="274320"/>
          </a:xfrm>
          <a:prstGeom prst="rect">
            <a:avLst/>
          </a:prstGeom>
        </p:spPr>
      </p:pic>
      <p:pic>
        <p:nvPicPr>
          <p:cNvPr id="14" name="Picture 13" descr="miner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780" y="420623"/>
            <a:ext cx="274320" cy="274320"/>
          </a:xfrm>
          <a:prstGeom prst="rect">
            <a:avLst/>
          </a:prstGeom>
        </p:spPr>
      </p:pic>
      <p:pic>
        <p:nvPicPr>
          <p:cNvPr id="15" name="Picture 14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0108" y="420623"/>
            <a:ext cx="274320" cy="274320"/>
          </a:xfrm>
          <a:prstGeom prst="rect">
            <a:avLst/>
          </a:prstGeom>
        </p:spPr>
      </p:pic>
      <p:pic>
        <p:nvPicPr>
          <p:cNvPr id="16" name="Picture 15" descr="mark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8436" y="420623"/>
            <a:ext cx="274320" cy="274320"/>
          </a:xfrm>
          <a:prstGeom prst="rect">
            <a:avLst/>
          </a:prstGeom>
        </p:spPr>
      </p:pic>
      <p:pic>
        <p:nvPicPr>
          <p:cNvPr id="17" name="Picture 16" descr="chu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0056" y="365760"/>
            <a:ext cx="292608" cy="292608"/>
          </a:xfrm>
          <a:prstGeom prst="rect">
            <a:avLst/>
          </a:prstGeom>
        </p:spPr>
      </p:pic>
      <p:pic>
        <p:nvPicPr>
          <p:cNvPr id="18" name="Picture 17" descr="b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1696" y="411479"/>
            <a:ext cx="292608" cy="292608"/>
          </a:xfrm>
          <a:prstGeom prst="rect">
            <a:avLst/>
          </a:prstGeom>
        </p:spPr>
      </p:pic>
      <p:pic>
        <p:nvPicPr>
          <p:cNvPr id="19" name="Picture 18" descr="me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68312" y="411479"/>
            <a:ext cx="292608" cy="292608"/>
          </a:xfrm>
          <a:prstGeom prst="rect">
            <a:avLst/>
          </a:prstGeom>
        </p:spPr>
      </p:pic>
      <p:pic>
        <p:nvPicPr>
          <p:cNvPr id="20" name="Picture 19" descr="qw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411479"/>
            <a:ext cx="292608" cy="292608"/>
          </a:xfrm>
          <a:prstGeom prst="rect">
            <a:avLst/>
          </a:prstGeom>
        </p:spPr>
      </p:pic>
      <p:pic>
        <p:nvPicPr>
          <p:cNvPr id="21" name="Picture 20" descr="answ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16568" y="365760"/>
            <a:ext cx="292608" cy="292608"/>
          </a:xfrm>
          <a:prstGeom prst="rect">
            <a:avLst/>
          </a:prstGeom>
        </p:spPr>
      </p:pic>
      <p:cxnSp>
        <p:nvCxnSpPr>
          <p:cNvPr id="22" name="Connector 21"/>
          <p:cNvCxnSpPr/>
          <p:nvPr/>
        </p:nvCxnSpPr>
        <p:spPr>
          <a:xfrm>
            <a:off x="1975104" y="466344"/>
            <a:ext cx="237744" cy="0"/>
          </a:xfrm>
          <a:prstGeom prst="line">
            <a:avLst/>
          </a:prstGeom>
          <a:ln w="1778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023360" y="466344"/>
            <a:ext cx="237744" cy="0"/>
          </a:xfrm>
          <a:prstGeom prst="line">
            <a:avLst/>
          </a:prstGeom>
          <a:ln w="1778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71616" y="466344"/>
            <a:ext cx="237744" cy="0"/>
          </a:xfrm>
          <a:prstGeom prst="line">
            <a:avLst/>
          </a:prstGeom>
          <a:ln w="1778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119872" y="466344"/>
            <a:ext cx="237744" cy="0"/>
          </a:xfrm>
          <a:prstGeom prst="line">
            <a:avLst/>
          </a:prstGeom>
          <a:ln w="17780">
            <a:solidFill>
              <a:srgbClr val="B0BEC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" y="809244"/>
            <a:ext cx="1773936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50" b="0">
                <a:solidFill>
                  <a:srgbClr val="90A4AE"/>
                </a:solidFill>
                <a:latin typeface="Calibri"/>
              </a:rPr>
              <a:t>the document-RAG pipeline we study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" y="1078992"/>
            <a:ext cx="224942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82880" y="1078992"/>
            <a:ext cx="2249424" cy="512064"/>
          </a:xfrm>
          <a:prstGeom prst="roundRect">
            <a:avLst>
              <a:gd name="adj" fmla="val 9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PROBLEM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C1 · The disconnect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1655064"/>
            <a:ext cx="2066543" cy="1088135"/>
          </a:xfrm>
          <a:prstGeom prst="rect">
            <a:avLst/>
          </a:prstGeom>
          <a:noFill/>
        </p:spPr>
        <p:txBody>
          <a:bodyPr wrap="square" anchor="t" lIns="27432" rIns="27432" tIns="27432" bIns="27432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3247"/>
                </a:solidFill>
                <a:latin typeface="Calibri"/>
              </a:rPr>
              <a:t>Parsers that look clean don’t retrieve. Boundary Clarity anti-correlates with retrieval (r = −0.81).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2761487"/>
            <a:ext cx="2066543" cy="329184"/>
          </a:xfrm>
          <a:prstGeom prst="roundRect">
            <a:avLst>
              <a:gd name="adj" fmla="val 12000"/>
            </a:avLst>
          </a:prstGeom>
          <a:solidFill>
            <a:srgbClr val="FD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C62828"/>
                </a:solidFill>
                <a:latin typeface="Calibri"/>
              </a:rPr>
              <a:t>Parser choice → Hit@1 2.8×  (0.197 → 0.549)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52344" y="1078992"/>
            <a:ext cx="224942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752344" y="1078992"/>
            <a:ext cx="2249424" cy="512064"/>
          </a:xfrm>
          <a:prstGeom prst="roundRect">
            <a:avLst>
              <a:gd name="adj" fmla="val 9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DIAGNOSE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C2 · Coverage diagnostic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43784" y="1655064"/>
            <a:ext cx="2066543" cy="1088135"/>
          </a:xfrm>
          <a:prstGeom prst="rect">
            <a:avLst/>
          </a:prstGeom>
          <a:noFill/>
        </p:spPr>
        <p:txBody>
          <a:bodyPr wrap="square" anchor="t" lIns="27432" rIns="27432" tIns="27432" bIns="27432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3247"/>
                </a:solidFill>
                <a:latin typeface="Calibri"/>
              </a:rPr>
              <a:t>A retriever-free check labels every answer covered / split / absent. Absent means a parser fault.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43784" y="2761487"/>
            <a:ext cx="2066543" cy="329184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1565C0"/>
                </a:solidFill>
                <a:latin typeface="Calibri"/>
              </a:rPr>
              <a:t>20.2% absent — constant across 8 chunkers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21808" y="1078992"/>
            <a:ext cx="224942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21808" y="1078992"/>
            <a:ext cx="2249424" cy="512064"/>
          </a:xfrm>
          <a:prstGeom prst="roundRect">
            <a:avLst>
              <a:gd name="adj" fmla="val 9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SELECT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C3 · RCPS protocol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13248" y="1655064"/>
            <a:ext cx="2066543" cy="1088135"/>
          </a:xfrm>
          <a:prstGeom prst="rect">
            <a:avLst/>
          </a:prstGeom>
          <a:noFill/>
        </p:spPr>
        <p:txBody>
          <a:bodyPr wrap="square" anchor="t" lIns="27432" rIns="27432" tIns="27432" bIns="27432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3247"/>
                </a:solidFill>
                <a:latin typeface="Calibri"/>
              </a:rPr>
              <a:t>Rank parsers &amp; chunkers by what retrieval does, on a held-out Q–A probe. Retriever-averaged &amp; format-invariant. No training.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13248" y="2761487"/>
            <a:ext cx="2066543" cy="329184"/>
          </a:xfrm>
          <a:prstGeom prst="roundRect">
            <a:avLst>
              <a:gd name="adj" fmla="val 12000"/>
            </a:avLst>
          </a:prstGeom>
          <a:solidFill>
            <a:srgbClr val="E7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2E7D32"/>
                </a:solidFill>
                <a:latin typeface="Calibri"/>
              </a:rPr>
              <a:t>Picks what BC / edit-distance rank wrong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91271" y="1078992"/>
            <a:ext cx="224942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891271" y="1078992"/>
            <a:ext cx="2249424" cy="512064"/>
          </a:xfrm>
          <a:prstGeom prst="roundRect">
            <a:avLst>
              <a:gd name="adj" fmla="val 9000"/>
            </a:avLst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IMPROVE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C4 · Bounded training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82711" y="1655064"/>
            <a:ext cx="2066543" cy="1088135"/>
          </a:xfrm>
          <a:prstGeom prst="rect">
            <a:avLst/>
          </a:prstGeom>
          <a:noFill/>
        </p:spPr>
        <p:txBody>
          <a:bodyPr wrap="square" anchor="t" lIns="27432" rIns="27432" tIns="27432" bIns="27432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3247"/>
                </a:solidFill>
                <a:latin typeface="Calibri"/>
              </a:rPr>
              <a:t>Best-of-K fidelity distillation improves the parser; a matched control shows the retrieval reward is unnecessary.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82711" y="2761487"/>
            <a:ext cx="2066543" cy="329184"/>
          </a:xfrm>
          <a:prstGeom prst="roundRect">
            <a:avLst>
              <a:gd name="adj" fmla="val 12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E65100"/>
                </a:solidFill>
                <a:latin typeface="Calibri"/>
              </a:rPr>
              <a:t>+1.22 pp Hit@5  (OHR-Bench)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450592" y="2130552"/>
            <a:ext cx="283464" cy="0"/>
          </a:xfrm>
          <a:prstGeom prst="line">
            <a:avLst/>
          </a:prstGeom>
          <a:ln w="2540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020056" y="2130552"/>
            <a:ext cx="283464" cy="0"/>
          </a:xfrm>
          <a:prstGeom prst="line">
            <a:avLst/>
          </a:prstGeom>
          <a:ln w="2540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589520" y="2130552"/>
            <a:ext cx="283463" cy="0"/>
          </a:xfrm>
          <a:prstGeom prst="line">
            <a:avLst/>
          </a:prstGeom>
          <a:ln w="25400">
            <a:solidFill>
              <a:srgbClr val="90A4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