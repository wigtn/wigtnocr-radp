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78240" cy="6126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09728"/>
            <a:ext cx="8412480" cy="365760"/>
          </a:xfrm>
          <a:prstGeom prst="roundRect">
            <a:avLst>
              <a:gd name="adj" fmla="val 16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RADP — choose the parser by </a:t>
            </a:r>
            <a:r>
              <a:rPr sz="1150" b="1">
                <a:solidFill>
                  <a:srgbClr val="FFD54F"/>
                </a:solidFill>
                <a:latin typeface="Calibri"/>
              </a:rPr>
              <a:t>retrieval</a:t>
            </a:r>
            <a:r>
              <a:rPr sz="1150" b="1">
                <a:solidFill>
                  <a:srgbClr val="FFFFFF"/>
                </a:solidFill>
                <a:latin typeface="Calibri"/>
              </a:rPr>
              <a:t>, not by appearance; train only where it helps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603504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DF4F4"/>
          </a:solidFill>
          <a:ln w="1651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" y="603504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PROBLEM   </a:t>
            </a:r>
            <a:r>
              <a:rPr sz="1150" b="1">
                <a:solidFill>
                  <a:srgbClr val="FFFFFF"/>
                </a:solidFill>
                <a:latin typeface="Calibri"/>
              </a:rPr>
              <a:t>C1 · The disconnect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603504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3F7FD"/>
          </a:solidFill>
          <a:ln w="1651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603504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DIAGNOSE   </a:t>
            </a:r>
            <a:r>
              <a:rPr sz="1150" b="1">
                <a:solidFill>
                  <a:srgbClr val="FFFFFF"/>
                </a:solidFill>
                <a:latin typeface="Calibri"/>
              </a:rPr>
              <a:t>C2 · Coverage diagnostic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493008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2F9F3"/>
          </a:solidFill>
          <a:ln w="1651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" y="3493008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SELECT   </a:t>
            </a:r>
            <a:r>
              <a:rPr sz="1150" b="1">
                <a:solidFill>
                  <a:srgbClr val="FFFFFF"/>
                </a:solidFill>
                <a:latin typeface="Calibri"/>
              </a:rPr>
              <a:t>C3 · RCPS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493008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DF6EF"/>
          </a:solidFill>
          <a:ln w="1651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3493008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IMPROVE   </a:t>
            </a:r>
            <a:r>
              <a:rPr sz="1150" b="1">
                <a:solidFill>
                  <a:srgbClr val="FFFFFF"/>
                </a:solidFill>
                <a:latin typeface="Calibri"/>
              </a:rPr>
              <a:t>C4 · Bounded 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3351" y="1115568"/>
            <a:ext cx="113385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900" b="1">
                <a:solidFill>
                  <a:srgbClr val="1F3247"/>
                </a:solidFill>
                <a:latin typeface="Calibri"/>
              </a:rPr>
              <a:t>Parser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1700784"/>
            <a:ext cx="1847088" cy="713232"/>
          </a:xfrm>
          <a:prstGeom prst="roundRect">
            <a:avLst>
              <a:gd name="adj" fmla="val 12000"/>
            </a:avLst>
          </a:prstGeom>
          <a:solidFill>
            <a:srgbClr val="F4F5F6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8A8F96"/>
                </a:solidFill>
                <a:latin typeface="Calibri"/>
              </a:rPr>
              <a:t>Appearance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BC · edit-dist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00" b="1">
                <a:solidFill>
                  <a:srgbClr val="C62828"/>
                </a:solidFill>
                <a:latin typeface="Calibri"/>
              </a:rPr>
              <a:t>MinerU ranks #1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2576" y="1700784"/>
            <a:ext cx="1847088" cy="713232"/>
          </a:xfrm>
          <a:prstGeom prst="roundRect">
            <a:avLst>
              <a:gd name="adj" fmla="val 12000"/>
            </a:avLst>
          </a:prstGeom>
          <a:solidFill>
            <a:srgbClr val="EAF4EC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2E7D32"/>
                </a:solidFill>
                <a:latin typeface="Calibri"/>
              </a:rPr>
              <a:t>Retrieval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RCPS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00" b="1">
                <a:solidFill>
                  <a:srgbClr val="2E7D32"/>
                </a:solidFill>
                <a:latin typeface="Calibri"/>
              </a:rPr>
              <a:t>MinerU ranks LAST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234440" y="1426464"/>
            <a:ext cx="731520" cy="274320"/>
          </a:xfrm>
          <a:prstGeom prst="line">
            <a:avLst/>
          </a:prstGeom>
          <a:ln w="19050">
            <a:solidFill>
              <a:srgbClr val="8A98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14599" y="1426464"/>
            <a:ext cx="731521" cy="274320"/>
          </a:xfrm>
          <a:prstGeom prst="line">
            <a:avLst/>
          </a:prstGeom>
          <a:ln w="19050">
            <a:solidFill>
              <a:srgbClr val="8A98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10896" y="2743200"/>
            <a:ext cx="3858768" cy="347472"/>
          </a:xfrm>
          <a:prstGeom prst="roundRect">
            <a:avLst>
              <a:gd name="adj" fmla="val 18000"/>
            </a:avLst>
          </a:prstGeom>
          <a:solidFill>
            <a:srgbClr val="FB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900" b="1">
                <a:solidFill>
                  <a:srgbClr val="C62828"/>
                </a:solidFill>
                <a:latin typeface="Calibri"/>
              </a:rPr>
              <a:t>BC ↔ RCPS  r = −0.81</a:t>
            </a:r>
            <a:r>
              <a:rPr sz="850" b="0">
                <a:solidFill>
                  <a:srgbClr val="1F3247"/>
                </a:solidFill>
                <a:latin typeface="Calibri"/>
              </a:rPr>
              <a:t>   ·   parser choice → Hit@1 </a:t>
            </a:r>
            <a:r>
              <a:rPr sz="950" b="1">
                <a:solidFill>
                  <a:srgbClr val="C62828"/>
                </a:solidFill>
                <a:latin typeface="Calibri"/>
              </a:rPr>
              <a:t>2.8×</a:t>
            </a:r>
            <a:r>
              <a:rPr sz="850" b="0">
                <a:solidFill>
                  <a:srgbClr val="1F3247"/>
                </a:solidFill>
                <a:latin typeface="Calibri"/>
              </a:rPr>
              <a:t> (0.20→0.55)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1032" y="1115568"/>
            <a:ext cx="1316736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F3247"/>
                </a:solidFill>
                <a:latin typeface="Calibri"/>
              </a:rPr>
              <a:t>gold answer span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499616"/>
            <a:ext cx="3310127" cy="274320"/>
          </a:xfrm>
          <a:prstGeom prst="roundRect">
            <a:avLst>
              <a:gd name="adj" fmla="val 12000"/>
            </a:avLst>
          </a:prstGeom>
          <a:solidFill>
            <a:srgbClr val="E7EFFB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565C0"/>
                </a:solidFill>
                <a:latin typeface="Calibri"/>
              </a:rPr>
              <a:t>in parser output?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77455" y="1865376"/>
            <a:ext cx="1481328" cy="310896"/>
          </a:xfrm>
          <a:prstGeom prst="roundRect">
            <a:avLst>
              <a:gd name="adj" fmla="val 12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ABSENT  20.2%</a:t>
            </a:r>
            <a:r>
              <a:rPr sz="750" b="0">
                <a:solidFill>
                  <a:srgbClr val="FFFFFF"/>
                </a:solidFill>
                <a:latin typeface="Calibri"/>
              </a:rPr>
              <a:t>  parser fault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0016" y="1865376"/>
            <a:ext cx="1700784" cy="274320"/>
          </a:xfrm>
          <a:prstGeom prst="roundRect">
            <a:avLst>
              <a:gd name="adj" fmla="val 12000"/>
            </a:avLst>
          </a:prstGeom>
          <a:solidFill>
            <a:srgbClr val="E7EFFB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565C0"/>
                </a:solidFill>
                <a:latin typeface="Calibri"/>
              </a:rPr>
              <a:t>fits one chunk?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0016" y="2231136"/>
            <a:ext cx="1700784" cy="310896"/>
          </a:xfrm>
          <a:prstGeom prst="roundRect">
            <a:avLst>
              <a:gd name="adj" fmla="val 12000"/>
            </a:avLst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SPLIT  ≤2.3%</a:t>
            </a:r>
            <a:r>
              <a:rPr sz="750" b="0">
                <a:solidFill>
                  <a:srgbClr val="FFFFFF"/>
                </a:solidFill>
                <a:latin typeface="Calibri"/>
              </a:rPr>
              <a:t>  chunker fault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77455" y="2231136"/>
            <a:ext cx="1481328" cy="310896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COVERED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29400" y="1408176"/>
            <a:ext cx="0" cy="91440"/>
          </a:xfrm>
          <a:prstGeom prst="line">
            <a:avLst/>
          </a:prstGeom>
          <a:ln w="19050">
            <a:solidFill>
              <a:srgbClr val="8A98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827263" y="1773936"/>
            <a:ext cx="228600" cy="91440"/>
          </a:xfrm>
          <a:prstGeom prst="line">
            <a:avLst/>
          </a:prstGeom>
          <a:ln w="19050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248655" y="1773936"/>
            <a:ext cx="0" cy="91440"/>
          </a:xfrm>
          <a:prstGeom prst="line">
            <a:avLst/>
          </a:prstGeom>
          <a:ln w="19050">
            <a:solidFill>
              <a:srgbClr val="1565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02936" y="2139696"/>
            <a:ext cx="0" cy="91440"/>
          </a:xfrm>
          <a:prstGeom prst="line">
            <a:avLst/>
          </a:prstGeom>
          <a:ln w="19050">
            <a:solidFill>
              <a:srgbClr val="E6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71616" y="2139696"/>
            <a:ext cx="1572767" cy="9144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00016" y="2871215"/>
            <a:ext cx="3858768" cy="219456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absent constant across 8 chunkers → fix the parser, not the chunker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896" y="4005072"/>
            <a:ext cx="3858768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F3247"/>
                </a:solidFill>
                <a:latin typeface="Calibri"/>
              </a:rPr>
              <a:t>held-out Q–A probe  +  parsed corpus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7319" y="4370832"/>
            <a:ext cx="1645920" cy="256032"/>
          </a:xfrm>
          <a:prstGeom prst="roundRect">
            <a:avLst>
              <a:gd name="adj" fmla="val 12000"/>
            </a:avLst>
          </a:prstGeom>
          <a:solidFill>
            <a:srgbClr val="EAF4EC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00" b="1">
                <a:solidFill>
                  <a:srgbClr val="2E7D32"/>
                </a:solidFill>
                <a:latin typeface="Calibri"/>
              </a:rPr>
              <a:t>chunk → retrieve (MRR)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0896" y="4718304"/>
            <a:ext cx="1237488" cy="475488"/>
          </a:xfrm>
          <a:prstGeom prst="roundRect">
            <a:avLst>
              <a:gd name="adj" fmla="val 12000"/>
            </a:avLst>
          </a:prstGeom>
          <a:solidFill>
            <a:srgbClr val="F2F9F3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2E7D32"/>
                </a:solidFill>
                <a:latin typeface="Calibri"/>
              </a:rPr>
              <a:t>✓ extrinsic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(probe)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21536" y="4718304"/>
            <a:ext cx="1237488" cy="475488"/>
          </a:xfrm>
          <a:prstGeom prst="roundRect">
            <a:avLst>
              <a:gd name="adj" fmla="val 12000"/>
            </a:avLst>
          </a:prstGeom>
          <a:solidFill>
            <a:srgbClr val="F2F9F3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2E7D32"/>
                </a:solidFill>
                <a:latin typeface="Calibri"/>
              </a:rPr>
              <a:t>✓ retriever-avg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×3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32176" y="4718304"/>
            <a:ext cx="1237488" cy="475488"/>
          </a:xfrm>
          <a:prstGeom prst="roundRect">
            <a:avLst>
              <a:gd name="adj" fmla="val 12000"/>
            </a:avLst>
          </a:prstGeom>
          <a:solidFill>
            <a:srgbClr val="F2F9F3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2E7D32"/>
                </a:solidFill>
                <a:latin typeface="Calibri"/>
              </a:rPr>
              <a:t>✓ format-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invariant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5431536"/>
            <a:ext cx="3493008" cy="310896"/>
          </a:xfrm>
          <a:prstGeom prst="roundRect">
            <a:avLst>
              <a:gd name="adj" fmla="val 12000"/>
            </a:avLst>
          </a:prstGeom>
          <a:solidFill>
            <a:srgbClr val="E6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30" b="1">
                <a:solidFill>
                  <a:srgbClr val="2E7D32"/>
                </a:solidFill>
                <a:latin typeface="Calibri"/>
              </a:rPr>
              <a:t>RCPS ranking → pick parser + chunker  (no training)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" y="5779007"/>
            <a:ext cx="3858768" cy="201168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30" b="0">
                <a:solidFill>
                  <a:srgbClr val="55636E"/>
                </a:solidFill>
                <a:latin typeface="Calibri"/>
              </a:rPr>
              <a:t>retriever-avg flips the top parser a single embedder gets wrong (τ = 0.87)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40279" y="4279392"/>
            <a:ext cx="0" cy="9144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40279" y="4626864"/>
            <a:ext cx="0" cy="9144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700016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Prod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parser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15000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DF6E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sample K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parses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22976" y="4315968"/>
            <a:ext cx="201168" cy="0"/>
          </a:xfrm>
          <a:prstGeom prst="line">
            <a:avLst/>
          </a:prstGeom>
          <a:ln w="190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29983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DF6E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rank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candidates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37959" y="4315968"/>
            <a:ext cx="201168" cy="0"/>
          </a:xfrm>
          <a:prstGeom prst="line">
            <a:avLst/>
          </a:prstGeom>
          <a:ln w="190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44967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DF6E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LoRA-toggle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DPO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552943" y="4315968"/>
            <a:ext cx="201168" cy="0"/>
          </a:xfrm>
          <a:prstGeom prst="line">
            <a:avLst/>
          </a:prstGeom>
          <a:ln w="190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00016" y="4608575"/>
            <a:ext cx="3858768" cy="365760"/>
          </a:xfrm>
          <a:prstGeom prst="rect">
            <a:avLst/>
          </a:prstGeom>
          <a:noFill/>
        </p:spPr>
        <p:txBody>
          <a:bodyPr wrap="square" anchor="t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rank by: </a:t>
            </a:r>
            <a:r>
              <a:rPr sz="800" b="1">
                <a:solidFill>
                  <a:srgbClr val="2E7D32"/>
                </a:solidFill>
                <a:latin typeface="Calibri"/>
              </a:rPr>
              <a:t>edit-dist → GT</a:t>
            </a:r>
            <a:r>
              <a:rPr sz="780" b="1">
                <a:solidFill>
                  <a:srgbClr val="2E7D32"/>
                </a:solidFill>
                <a:latin typeface="Calibri"/>
              </a:rPr>
              <a:t>  (RADP-Distill ✓)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55636E"/>
                </a:solidFill>
                <a:latin typeface="Calibri"/>
              </a:rPr>
              <a:t>vs  page-RCPS  (RADP-DPO) — same result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00016" y="5614416"/>
            <a:ext cx="3858768" cy="365760"/>
          </a:xfrm>
          <a:prstGeom prst="roundRect">
            <a:avLst>
              <a:gd name="adj" fmla="val 16000"/>
            </a:avLst>
          </a:prstGeom>
          <a:solidFill>
            <a:srgbClr val="FC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E65100"/>
                </a:solidFill>
                <a:latin typeface="Calibri"/>
              </a:rPr>
              <a:t>retrieval reward unnecessary</a:t>
            </a:r>
            <a:r>
              <a:rPr sz="830" b="0">
                <a:solidFill>
                  <a:srgbClr val="1F3247"/>
                </a:solidFill>
                <a:latin typeface="Calibri"/>
              </a:rPr>
              <a:t>  →  distil to clean GT text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E65100"/>
                </a:solidFill>
                <a:latin typeface="Calibri"/>
              </a:rPr>
              <a:t>+1.22 pp Hit@5 (OHR-Bench)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15968" y="1911095"/>
            <a:ext cx="237744" cy="0"/>
          </a:xfrm>
          <a:prstGeom prst="line">
            <a:avLst/>
          </a:prstGeom>
          <a:ln w="25400">
            <a:solidFill>
              <a:srgbClr val="6B77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315968" y="4800600"/>
            <a:ext cx="237744" cy="0"/>
          </a:xfrm>
          <a:prstGeom prst="line">
            <a:avLst/>
          </a:prstGeom>
          <a:ln w="25400">
            <a:solidFill>
              <a:srgbClr val="6B77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389120" y="3223260"/>
            <a:ext cx="0" cy="265176"/>
          </a:xfrm>
          <a:prstGeom prst="line">
            <a:avLst/>
          </a:prstGeom>
          <a:ln w="25400">
            <a:solidFill>
              <a:srgbClr val="6B77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