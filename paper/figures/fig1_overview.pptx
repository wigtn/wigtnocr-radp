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332720" cy="39319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46304"/>
            <a:ext cx="1691640" cy="310896"/>
          </a:xfrm>
          <a:prstGeom prst="roundRect">
            <a:avLst>
              <a:gd name="adj" fmla="val 18000"/>
            </a:avLst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Document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40280" y="146304"/>
            <a:ext cx="1691640" cy="310896"/>
          </a:xfrm>
          <a:prstGeom prst="roundRect">
            <a:avLst>
              <a:gd name="adj" fmla="val 18000"/>
            </a:avLst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Parse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46304"/>
            <a:ext cx="1691640" cy="310896"/>
          </a:xfrm>
          <a:prstGeom prst="roundRect">
            <a:avLst>
              <a:gd name="adj" fmla="val 18000"/>
            </a:avLst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Chunk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46304"/>
            <a:ext cx="1691640" cy="310896"/>
          </a:xfrm>
          <a:prstGeom prst="roundRect">
            <a:avLst>
              <a:gd name="adj" fmla="val 18000"/>
            </a:avLst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Retrieve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46304"/>
            <a:ext cx="1691640" cy="310896"/>
          </a:xfrm>
          <a:prstGeom prst="roundRect">
            <a:avLst>
              <a:gd name="adj" fmla="val 18000"/>
            </a:avLst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Generate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548640"/>
            <a:ext cx="1691640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" y="694944"/>
            <a:ext cx="512064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1426464"/>
            <a:ext cx="1691640" cy="420624"/>
          </a:xfrm>
          <a:prstGeom prst="rect">
            <a:avLst/>
          </a:prstGeom>
          <a:noFill/>
        </p:spPr>
        <p:txBody>
          <a:bodyPr wrap="square" anchor="t" lIns="45720" rIns="45720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3247"/>
                </a:solidFill>
                <a:latin typeface="Calibri"/>
              </a:rPr>
              <a:t>Korean gov doc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46E7A"/>
                </a:solidFill>
                <a:latin typeface="Calibri"/>
              </a:rPr>
              <a:t>PDF / scanned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548640"/>
            <a:ext cx="1691640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u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468" y="694944"/>
            <a:ext cx="512064" cy="5120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97680" y="1426464"/>
            <a:ext cx="1691640" cy="420624"/>
          </a:xfrm>
          <a:prstGeom prst="rect">
            <a:avLst/>
          </a:prstGeom>
          <a:noFill/>
        </p:spPr>
        <p:txBody>
          <a:bodyPr wrap="square" anchor="t" lIns="45720" rIns="45720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3247"/>
                </a:solidFill>
                <a:latin typeface="Calibri"/>
              </a:rPr>
              <a:t>Chunker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46E7A"/>
                </a:solidFill>
                <a:latin typeface="Calibri"/>
              </a:rPr>
              <a:t>md-header · native · fixed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548640"/>
            <a:ext cx="1691640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nsw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2268" y="694944"/>
            <a:ext cx="512064" cy="5120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12480" y="1426464"/>
            <a:ext cx="1691640" cy="420624"/>
          </a:xfrm>
          <a:prstGeom prst="rect">
            <a:avLst/>
          </a:prstGeom>
          <a:noFill/>
        </p:spPr>
        <p:txBody>
          <a:bodyPr wrap="square" anchor="t" lIns="45720" rIns="45720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3247"/>
                </a:solidFill>
                <a:latin typeface="Calibri"/>
              </a:rPr>
              <a:t>RAG answer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46E7A"/>
                </a:solidFill>
                <a:latin typeface="Calibri"/>
              </a:rPr>
              <a:t>grounded generation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548640"/>
            <a:ext cx="1691640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594360"/>
            <a:ext cx="169164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3247"/>
                </a:solidFill>
                <a:latin typeface="Calibri"/>
              </a:rPr>
              <a:t>Parsers</a:t>
            </a:r>
          </a:p>
        </p:txBody>
      </p:sp>
      <p:pic>
        <p:nvPicPr>
          <p:cNvPr id="18" name="Picture 17" descr="qw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1816" y="822959"/>
            <a:ext cx="277611" cy="27761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95144" y="1109715"/>
            <a:ext cx="790956" cy="1338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650" b="0">
                <a:solidFill>
                  <a:srgbClr val="546E7A"/>
                </a:solidFill>
                <a:latin typeface="Calibri"/>
              </a:rPr>
              <a:t>Qwen-VL</a:t>
            </a:r>
          </a:p>
        </p:txBody>
      </p:sp>
      <p:pic>
        <p:nvPicPr>
          <p:cNvPr id="20" name="Picture 19" descr="miner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2772" y="822959"/>
            <a:ext cx="277611" cy="27761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086100" y="1109715"/>
            <a:ext cx="790956" cy="1338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650" b="0">
                <a:solidFill>
                  <a:srgbClr val="546E7A"/>
                </a:solidFill>
                <a:latin typeface="Calibri"/>
              </a:rPr>
              <a:t>MinerU</a:t>
            </a:r>
          </a:p>
        </p:txBody>
      </p:sp>
      <p:pic>
        <p:nvPicPr>
          <p:cNvPr id="22" name="Picture 21" descr="padd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1816" y="1243584"/>
            <a:ext cx="277611" cy="27761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295144" y="1530339"/>
            <a:ext cx="790956" cy="1338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650" b="0">
                <a:solidFill>
                  <a:srgbClr val="546E7A"/>
                </a:solidFill>
                <a:latin typeface="Calibri"/>
              </a:rPr>
              <a:t>PaddleOCR</a:t>
            </a:r>
          </a:p>
        </p:txBody>
      </p:sp>
      <p:pic>
        <p:nvPicPr>
          <p:cNvPr id="24" name="Picture 23" descr="mark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2772" y="1243584"/>
            <a:ext cx="277611" cy="27761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086100" y="1530339"/>
            <a:ext cx="790956" cy="1338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650" b="0">
                <a:solidFill>
                  <a:srgbClr val="546E7A"/>
                </a:solidFill>
                <a:latin typeface="Calibri"/>
              </a:rPr>
              <a:t>Marker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1600200"/>
            <a:ext cx="169164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00695C"/>
                </a:solidFill>
                <a:latin typeface="Calibri"/>
              </a:rPr>
              <a:t>fine-tune → Prod (2B)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548640"/>
            <a:ext cx="1691640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594360"/>
            <a:ext cx="169164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3247"/>
                </a:solidFill>
                <a:latin typeface="Calibri"/>
              </a:rPr>
              <a:t>Retrievers ×3</a:t>
            </a:r>
          </a:p>
        </p:txBody>
      </p:sp>
      <p:pic>
        <p:nvPicPr>
          <p:cNvPr id="29" name="Picture 28" descr="b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0413" y="859536"/>
            <a:ext cx="374172" cy="3741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00800" y="1242852"/>
            <a:ext cx="533400" cy="1836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650" b="0">
                <a:solidFill>
                  <a:srgbClr val="546E7A"/>
                </a:solidFill>
                <a:latin typeface="Calibri"/>
              </a:rPr>
              <a:t>BGE-M3</a:t>
            </a:r>
          </a:p>
        </p:txBody>
      </p:sp>
      <p:pic>
        <p:nvPicPr>
          <p:cNvPr id="31" name="Picture 30" descr="me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3813" y="859536"/>
            <a:ext cx="374172" cy="37417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934200" y="1242852"/>
            <a:ext cx="533400" cy="1836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650" b="0">
                <a:solidFill>
                  <a:srgbClr val="546E7A"/>
                </a:solidFill>
                <a:latin typeface="Calibri"/>
              </a:rPr>
              <a:t>mE5</a:t>
            </a:r>
          </a:p>
        </p:txBody>
      </p:sp>
      <p:pic>
        <p:nvPicPr>
          <p:cNvPr id="33" name="Picture 32" descr="qw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7213" y="859536"/>
            <a:ext cx="374172" cy="37417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67599" y="1242852"/>
            <a:ext cx="533400" cy="1836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650" b="0">
                <a:solidFill>
                  <a:srgbClr val="546E7A"/>
                </a:solidFill>
                <a:latin typeface="Calibri"/>
              </a:rPr>
              <a:t>Qwen3-Emb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1609344"/>
            <a:ext cx="169164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46E7A"/>
                </a:solidFill>
                <a:latin typeface="Calibri"/>
              </a:rPr>
              <a:t>k ∈ {1, 5, 10}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892808" y="1216152"/>
            <a:ext cx="329184" cy="0"/>
          </a:xfrm>
          <a:prstGeom prst="line">
            <a:avLst/>
          </a:prstGeom>
          <a:ln w="20320">
            <a:solidFill>
              <a:srgbClr val="7890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950208" y="1216152"/>
            <a:ext cx="329184" cy="0"/>
          </a:xfrm>
          <a:prstGeom prst="line">
            <a:avLst/>
          </a:prstGeom>
          <a:ln w="20320">
            <a:solidFill>
              <a:srgbClr val="7890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007608" y="1216152"/>
            <a:ext cx="329184" cy="0"/>
          </a:xfrm>
          <a:prstGeom prst="line">
            <a:avLst/>
          </a:prstGeom>
          <a:ln w="20320">
            <a:solidFill>
              <a:srgbClr val="7890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065008" y="1216152"/>
            <a:ext cx="329184" cy="0"/>
          </a:xfrm>
          <a:prstGeom prst="line">
            <a:avLst/>
          </a:prstGeom>
          <a:ln w="20320">
            <a:solidFill>
              <a:srgbClr val="7890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82880" y="1993392"/>
            <a:ext cx="4480560" cy="1792224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1397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82880" y="1993392"/>
            <a:ext cx="4480560" cy="310896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DIAGNOSE  —  locate the real fault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" y="2350008"/>
            <a:ext cx="4334256" cy="1371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1565C0"/>
                </a:solidFill>
                <a:latin typeface="Calibri"/>
              </a:rPr>
              <a:t>C1  </a:t>
            </a:r>
            <a:r>
              <a:rPr sz="950" b="0">
                <a:solidFill>
                  <a:srgbClr val="1F3247"/>
                </a:solidFill>
                <a:latin typeface="Calibri"/>
              </a:rPr>
              <a:t>Disconnect — parsers that look clean don’t retrieve. Boundary Clarity anti-correlates with retrieval (r = −0.81); parser choice alone swings Hit@1 2.8× (0.197 → 0.549).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1565C0"/>
                </a:solidFill>
                <a:latin typeface="Calibri"/>
              </a:rPr>
              <a:t>C2  </a:t>
            </a:r>
            <a:r>
              <a:rPr sz="950" b="0">
                <a:solidFill>
                  <a:srgbClr val="1F3247"/>
                </a:solidFill>
                <a:latin typeface="Calibri"/>
              </a:rPr>
              <a:t>Coverage (no retriever) — 20.2% of answers are absent from the parser output, constant across 8 chunkers → fix the parser before the retriever.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00600" y="1993392"/>
            <a:ext cx="2651760" cy="1792224"/>
          </a:xfrm>
          <a:prstGeom prst="roundRect">
            <a:avLst>
              <a:gd name="adj" fmla="val 5000"/>
            </a:avLst>
          </a:prstGeom>
          <a:solidFill>
            <a:srgbClr val="E7F5EA"/>
          </a:solidFill>
          <a:ln w="1397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800600" y="1993392"/>
            <a:ext cx="2651760" cy="310896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SELECT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73752" y="2350008"/>
            <a:ext cx="2505456" cy="1371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2E7D32"/>
                </a:solidFill>
                <a:latin typeface="Calibri"/>
              </a:rPr>
              <a:t>C3  </a:t>
            </a:r>
            <a:r>
              <a:rPr sz="950" b="0">
                <a:solidFill>
                  <a:srgbClr val="1F3247"/>
                </a:solidFill>
                <a:latin typeface="Calibri"/>
              </a:rPr>
              <a:t>RCPS — rank parsers &amp; chunkers by what retrieval does, on a held-out Q–A probe. Retriever-averaged &amp; format-invariant. No training.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89520" y="1993392"/>
            <a:ext cx="2514600" cy="1792224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397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589520" y="1993392"/>
            <a:ext cx="2514600" cy="310896"/>
          </a:xfrm>
          <a:prstGeom prst="roundRect">
            <a:avLst>
              <a:gd name="adj" fmla="val 10000"/>
            </a:avLst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IMPROVE  (bounded)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62672" y="2350008"/>
            <a:ext cx="2368296" cy="1371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E65100"/>
                </a:solidFill>
                <a:latin typeface="Calibri"/>
              </a:rPr>
              <a:t>C4  </a:t>
            </a:r>
            <a:r>
              <a:rPr sz="950" b="0">
                <a:solidFill>
                  <a:srgbClr val="1F3247"/>
                </a:solidFill>
                <a:latin typeface="Calibri"/>
              </a:rPr>
              <a:t>Best-of-K fidelity distillation: +1.22 pp Hit@5 (OHR-Bench). A matched control shows the retrieval reward is unnecessary.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